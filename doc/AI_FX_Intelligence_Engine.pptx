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0F6E56">
              <a:alpha val="12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D9E75"/>
                </a:solidFill>
              </a:rPr>
              <a:t>PRODUCT CONCEPT  ·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412480" cy="10058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 FX Intelligence Engine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8412480" cy="5029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FE1CB"/>
                </a:solidFill>
              </a:rPr>
              <a:t>Predict. Protect. Optimise.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BB5"/>
                </a:solidFill>
              </a:rPr>
              <a:t>A layered AI model that turns exchange rate data into actionable signals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9BB5"/>
                </a:solidFill>
              </a:rPr>
              <a:t>for retail traders, SME merchants, and enterprise treasury teams.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4754880"/>
            <a:ext cx="8412480" cy="18288"/>
          </a:xfrm>
          <a:prstGeom prst="rect">
            <a:avLst/>
          </a:prstGeom>
          <a:solidFill>
            <a:srgbClr val="2E3F5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Confidential  ·  Draft v1.0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D9E75"/>
                </a:solidFill>
              </a:rPr>
              <a:t>DATA INPUTS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6032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feeds the engine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2834640" cy="1417320"/>
          </a:xfrm>
          <a:prstGeom prst="rect">
            <a:avLst/>
          </a:prstGeom>
          <a:solidFill>
            <a:srgbClr val="1E2A3A"/>
          </a:solidFill>
          <a:ln w="9525">
            <a:solidFill>
              <a:srgbClr val="2E3F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97280"/>
            <a:ext cx="54864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533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Historical Exchange Rates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556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Daily closes across all currency pairs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55264" y="1097280"/>
            <a:ext cx="2834640" cy="1417320"/>
          </a:xfrm>
          <a:prstGeom prst="rect">
            <a:avLst/>
          </a:prstGeom>
          <a:solidFill>
            <a:srgbClr val="1E2A3A"/>
          </a:solidFill>
          <a:ln w="9525">
            <a:solidFill>
              <a:srgbClr val="2E3F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55264" y="1097280"/>
            <a:ext cx="54864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533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Exchange Rates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7556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Live mid-market rates · tick level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54496" y="1097280"/>
            <a:ext cx="2834640" cy="1417320"/>
          </a:xfrm>
          <a:prstGeom prst="rect">
            <a:avLst/>
          </a:prstGeom>
          <a:solidFill>
            <a:srgbClr val="1E2A3A"/>
          </a:solidFill>
          <a:ln w="9525">
            <a:solidFill>
              <a:srgbClr val="2E3F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1097280"/>
            <a:ext cx="54864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3533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Card Network Rates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82512" y="17556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Daily consumer conversion rates per pair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2743200"/>
            <a:ext cx="2834640" cy="1417320"/>
          </a:xfrm>
          <a:prstGeom prst="rect">
            <a:avLst/>
          </a:prstGeom>
          <a:solidFill>
            <a:srgbClr val="1E2A3A"/>
          </a:solidFill>
          <a:ln w="9525">
            <a:solidFill>
              <a:srgbClr val="2E3F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743200"/>
            <a:ext cx="54864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992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Central Bank Policy Rates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4015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Rate differentials · forward expectations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55264" y="2743200"/>
            <a:ext cx="2834640" cy="1417320"/>
          </a:xfrm>
          <a:prstGeom prst="rect">
            <a:avLst/>
          </a:prstGeom>
          <a:solidFill>
            <a:srgbClr val="1E2A3A"/>
          </a:solidFill>
          <a:ln w="9525">
            <a:solidFill>
              <a:srgbClr val="2E3F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55264" y="2743200"/>
            <a:ext cx="54864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9992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Economic Release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4015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Actual vs consensus · surprise index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54496" y="2743200"/>
            <a:ext cx="2834640" cy="1417320"/>
          </a:xfrm>
          <a:prstGeom prst="rect">
            <a:avLst/>
          </a:prstGeom>
          <a:solidFill>
            <a:srgbClr val="1E2A3A"/>
          </a:solidFill>
          <a:ln w="9525">
            <a:solidFill>
              <a:srgbClr val="2E3F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4496" y="2743200"/>
            <a:ext cx="54864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9992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 Sentiment Signals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82512" y="34015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Positioning · implied vol · risk appetite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4389120"/>
            <a:ext cx="2834640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425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E1CB"/>
                </a:solidFill>
              </a:rPr>
              <a:t>BROKER  ·  RETAIL ORDER FLOW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4681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Net long/short per pair · customer book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55264" y="4389120"/>
            <a:ext cx="2834640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4425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E1CB"/>
                </a:solidFill>
              </a:rPr>
              <a:t>BROKER  ·  TRADE EXECUTION PATTERNS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64992" y="4681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Entry · exit · hold time · win/loss ratio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54496" y="4389120"/>
            <a:ext cx="2834640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44256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FE1CB"/>
                </a:solidFill>
              </a:rPr>
              <a:t>BROKER  ·  CROSS-ASSET PRICE DATA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64224" y="4681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FX · metals · indices · commodities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D9E75"/>
                </a:solidFill>
              </a:rPr>
              <a:t>THE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6032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the model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6400800" cy="1280160"/>
          </a:xfrm>
          <a:prstGeom prst="rect">
            <a:avLst/>
          </a:prstGeom>
          <a:solidFill>
            <a:srgbClr val="0F6E56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FX Intelligence Engine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6420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FE1CB"/>
                </a:solidFill>
              </a:rPr>
              <a:t>Regime Classification  ·  Volatility Forecasting  ·  Directional Bias Scoring  ·  Macro Signal Detection</a:t>
            </a:r>
            <a:endParaRPr lang="en-US" sz="9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9FE1CB"/>
                </a:solidFill>
              </a:rPr>
              <a:t>Card network rate spread as liquidity stress indicator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61872" y="2395728"/>
            <a:ext cx="0" cy="347472"/>
          </a:xfrm>
          <a:prstGeom prst="line">
            <a:avLst/>
          </a:prstGeom>
          <a:noFill/>
          <a:ln w="9525">
            <a:solidFill>
              <a:srgbClr val="1D9E7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56032" y="2743200"/>
            <a:ext cx="2011680" cy="1417320"/>
          </a:xfrm>
          <a:prstGeom prst="rect">
            <a:avLst/>
          </a:prstGeom>
          <a:solidFill>
            <a:srgbClr val="0D1526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2743200"/>
            <a:ext cx="20116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Regime Classifier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323697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Identifies market state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trending · ranging · event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47872" y="2395728"/>
            <a:ext cx="0" cy="347472"/>
          </a:xfrm>
          <a:prstGeom prst="line">
            <a:avLst/>
          </a:prstGeom>
          <a:noFill/>
          <a:ln w="9525">
            <a:solidFill>
              <a:srgbClr val="1D9E7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542032" y="2743200"/>
            <a:ext cx="2011680" cy="1417320"/>
          </a:xfrm>
          <a:prstGeom prst="rect">
            <a:avLst/>
          </a:prstGeom>
          <a:solidFill>
            <a:srgbClr val="0D1526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2032" y="2743200"/>
            <a:ext cx="20116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LSTM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33472" y="323697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Learns rate sequence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patterns over 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33872" y="2395728"/>
            <a:ext cx="0" cy="347472"/>
          </a:xfrm>
          <a:prstGeom prst="line">
            <a:avLst/>
          </a:prstGeom>
          <a:noFill/>
          <a:ln w="9525">
            <a:solidFill>
              <a:srgbClr val="1D9E7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828032" y="2743200"/>
            <a:ext cx="2011680" cy="1417320"/>
          </a:xfrm>
          <a:prstGeom prst="rect">
            <a:avLst/>
          </a:prstGeom>
          <a:solidFill>
            <a:srgbClr val="0D1526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2743200"/>
            <a:ext cx="20116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Volatility Model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323697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Expected move band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next 1–5 days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19872" y="2395728"/>
            <a:ext cx="0" cy="347472"/>
          </a:xfrm>
          <a:prstGeom prst="line">
            <a:avLst/>
          </a:prstGeom>
          <a:noFill/>
          <a:ln w="9525">
            <a:solidFill>
              <a:srgbClr val="1D9E7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114032" y="2743200"/>
            <a:ext cx="2011680" cy="1417320"/>
          </a:xfrm>
          <a:prstGeom prst="rect">
            <a:avLst/>
          </a:prstGeom>
          <a:solidFill>
            <a:srgbClr val="0D1526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14032" y="2743200"/>
            <a:ext cx="20116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Assembler Model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05472" y="323697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Combines all signals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A9BB5"/>
                </a:solidFill>
              </a:rPr>
              <a:t>into final output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56032" y="4480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E1CB"/>
                </a:solidFill>
              </a:rPr>
              <a:t>Output: directional bias · confidence % · volatility band · regime label · plain-English reason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201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D9E75"/>
                </a:solidFill>
              </a:rPr>
              <a:t>WHO BENEFITS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6032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segments. One engine.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834640" cy="3840480"/>
          </a:xfrm>
          <a:prstGeom prst="rect">
            <a:avLst/>
          </a:prstGeom>
          <a:solidFill>
            <a:srgbClr val="3B2D8A">
              <a:alpha val="18000"/>
            </a:srgbClr>
          </a:solidFill>
          <a:ln w="12700">
            <a:solidFill>
              <a:srgbClr val="3B2D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2834640" cy="548640"/>
          </a:xfrm>
          <a:prstGeom prst="rect">
            <a:avLst/>
          </a:prstGeom>
          <a:solidFill>
            <a:srgbClr val="3B2D8A"/>
          </a:solidFill>
          <a:ln w="12700">
            <a:solidFill>
              <a:srgbClr val="3B2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Retail Traders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883664"/>
            <a:ext cx="91440" cy="91440"/>
          </a:xfrm>
          <a:prstGeom prst="ellipse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922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Directional signal per pair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414016"/>
            <a:ext cx="91440" cy="91440"/>
          </a:xfrm>
          <a:prstGeom prst="ellipse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225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Up / down / neutral + confidence score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944368"/>
            <a:ext cx="91440" cy="91440"/>
          </a:xfrm>
          <a:prstGeom prst="ellipse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529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Risk-adjusted position sizing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3474720"/>
            <a:ext cx="91440" cy="91440"/>
          </a:xfrm>
          <a:prstGeom prst="ellipse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83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Volatility band for stop/target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4005072"/>
            <a:ext cx="91440" cy="91440"/>
          </a:xfrm>
          <a:prstGeom prst="ellipse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13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Event proximity alert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4535424"/>
            <a:ext cx="91440" cy="91440"/>
          </a:xfrm>
          <a:prstGeom prst="ellipse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4439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Regime label (trending / ranging)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55264" y="1078992"/>
            <a:ext cx="2834640" cy="3840480"/>
          </a:xfrm>
          <a:prstGeom prst="rect">
            <a:avLst/>
          </a:prstGeom>
          <a:solidFill>
            <a:srgbClr val="7A4800">
              <a:alpha val="18000"/>
            </a:srgbClr>
          </a:solidFill>
          <a:ln w="12700">
            <a:solidFill>
              <a:srgbClr val="7A48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55264" y="1078992"/>
            <a:ext cx="2834640" cy="548640"/>
          </a:xfrm>
          <a:prstGeom prst="rect">
            <a:avLst/>
          </a:prstGeom>
          <a:solidFill>
            <a:srgbClr val="7A4800"/>
          </a:solidFill>
          <a:ln w="12700">
            <a:solidFill>
              <a:srgbClr val="7A4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09728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SME Merchants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1883664"/>
            <a:ext cx="91440" cy="91440"/>
          </a:xfrm>
          <a:prstGeom prst="ellipse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17922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FX exposure score per currency held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2414016"/>
            <a:ext cx="91440" cy="91440"/>
          </a:xfrm>
          <a:prstGeom prst="ellipse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23225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Optimal conversion window (next 5 days)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83280" y="2944368"/>
            <a:ext cx="91440" cy="91440"/>
          </a:xfrm>
          <a:prstGeom prst="ellipse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28529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Rate-lock pricing for invoicing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3474720"/>
            <a:ext cx="91440" cy="91440"/>
          </a:xfrm>
          <a:prstGeom prst="ellipse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3383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Volatility alert with plain-English reason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83280" y="4005072"/>
            <a:ext cx="91440" cy="91440"/>
          </a:xfrm>
          <a:prstGeom prst="ellipse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3913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DCC + MCP integration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54496" y="1078992"/>
            <a:ext cx="2834640" cy="3840480"/>
          </a:xfrm>
          <a:prstGeom prst="rect">
            <a:avLst/>
          </a:prstGeom>
          <a:solidFill>
            <a:srgbClr val="7B2A18">
              <a:alpha val="18000"/>
            </a:srgbClr>
          </a:solidFill>
          <a:ln w="12700">
            <a:solidFill>
              <a:srgbClr val="7B2A1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54496" y="1078992"/>
            <a:ext cx="2834640" cy="548640"/>
          </a:xfrm>
          <a:prstGeom prst="rect">
            <a:avLst/>
          </a:prstGeom>
          <a:solidFill>
            <a:srgbClr val="7B2A18"/>
          </a:solidFill>
          <a:ln w="12700">
            <a:solidFill>
              <a:srgbClr val="7B2A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1097280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Enterprise Treasury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82512" y="1883664"/>
            <a:ext cx="91440" cy="91440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47104" y="17922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Hedge recommendation sizing + timing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82512" y="2414016"/>
            <a:ext cx="91440" cy="91440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47104" y="232257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Multi-currency P&amp;L attribution vs budget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82512" y="2944368"/>
            <a:ext cx="91440" cy="91440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47104" y="28529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Payroll conversion optimisation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82512" y="3474720"/>
            <a:ext cx="91440" cy="91440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47104" y="3383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API access to engine signals + forecasts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82512" y="4005072"/>
            <a:ext cx="91440" cy="91440"/>
          </a:xfrm>
          <a:prstGeom prst="ellipse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47104" y="3913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8EDF5"/>
                </a:solidFill>
              </a:rPr>
              <a:t>FX cost recovery analytics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37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1D9E75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56032" y="475488"/>
            <a:ext cx="8631936" cy="804672"/>
          </a:xfrm>
          <a:prstGeom prst="rect">
            <a:avLst/>
          </a:prstGeom>
          <a:solidFill>
            <a:srgbClr val="1E2A3A"/>
          </a:solidFill>
          <a:ln w="9525">
            <a:solidFill>
              <a:srgbClr val="2E3F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5120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1D9E75"/>
                </a:solidFill>
              </a:rPr>
              <a:t>DATA INPUTS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47472" y="512064"/>
            <a:ext cx="2724912" cy="219456"/>
          </a:xfrm>
          <a:prstGeom prst="rect">
            <a:avLst/>
          </a:prstGeom>
          <a:solidFill>
            <a:srgbClr val="0D1526"/>
          </a:solidFill>
          <a:ln w="6350">
            <a:solidFill>
              <a:srgbClr val="2E3F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53035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Historical rates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18688" y="512064"/>
            <a:ext cx="2724912" cy="219456"/>
          </a:xfrm>
          <a:prstGeom prst="rect">
            <a:avLst/>
          </a:prstGeom>
          <a:solidFill>
            <a:srgbClr val="0D1526"/>
          </a:solidFill>
          <a:ln w="6350">
            <a:solidFill>
              <a:srgbClr val="2E3F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53035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Real-time rates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89904" y="512064"/>
            <a:ext cx="2724912" cy="219456"/>
          </a:xfrm>
          <a:prstGeom prst="rect">
            <a:avLst/>
          </a:prstGeom>
          <a:solidFill>
            <a:srgbClr val="0D1526"/>
          </a:solidFill>
          <a:ln w="6350">
            <a:solidFill>
              <a:srgbClr val="2E3F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53035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Card network rates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" y="768096"/>
            <a:ext cx="2724912" cy="219456"/>
          </a:xfrm>
          <a:prstGeom prst="rect">
            <a:avLst/>
          </a:prstGeom>
          <a:solidFill>
            <a:srgbClr val="0D1526"/>
          </a:solidFill>
          <a:ln w="6350">
            <a:solidFill>
              <a:srgbClr val="2E3F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78638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Central bank rates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18688" y="768096"/>
            <a:ext cx="2724912" cy="219456"/>
          </a:xfrm>
          <a:prstGeom prst="rect">
            <a:avLst/>
          </a:prstGeom>
          <a:solidFill>
            <a:srgbClr val="0D1526"/>
          </a:solidFill>
          <a:ln w="6350">
            <a:solidFill>
              <a:srgbClr val="2E3F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78638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Economic releases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89904" y="768096"/>
            <a:ext cx="2724912" cy="219456"/>
          </a:xfrm>
          <a:prstGeom prst="rect">
            <a:avLst/>
          </a:prstGeom>
          <a:solidFill>
            <a:srgbClr val="0D1526"/>
          </a:solidFill>
          <a:ln w="6350">
            <a:solidFill>
              <a:srgbClr val="2E3F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78638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Market sentiment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7472" y="1024128"/>
            <a:ext cx="2724912" cy="219456"/>
          </a:xfrm>
          <a:prstGeom prst="rect">
            <a:avLst/>
          </a:prstGeom>
          <a:solidFill>
            <a:srgbClr val="0F6E56">
              <a:alpha val="3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104241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E1CB"/>
                </a:solidFill>
              </a:rPr>
              <a:t>Retail order flow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18688" y="1024128"/>
            <a:ext cx="2724912" cy="219456"/>
          </a:xfrm>
          <a:prstGeom prst="rect">
            <a:avLst/>
          </a:prstGeom>
          <a:solidFill>
            <a:srgbClr val="0F6E56">
              <a:alpha val="3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04241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E1CB"/>
                </a:solidFill>
              </a:rPr>
              <a:t>Trade patterns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89904" y="1024128"/>
            <a:ext cx="2724912" cy="219456"/>
          </a:xfrm>
          <a:prstGeom prst="rect">
            <a:avLst/>
          </a:prstGeom>
          <a:solidFill>
            <a:srgbClr val="0F6E56">
              <a:alpha val="30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104241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E1CB"/>
                </a:solidFill>
              </a:rPr>
              <a:t>Cross-asset data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80560" y="1298448"/>
            <a:ext cx="0" cy="27432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371600" y="1591056"/>
            <a:ext cx="6400800" cy="731520"/>
          </a:xfrm>
          <a:prstGeom prst="rect">
            <a:avLst/>
          </a:prstGeom>
          <a:solidFill>
            <a:srgbClr val="0F6E56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" y="16276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FX Intelligence Engine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1956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E1CB"/>
                </a:solidFill>
              </a:rPr>
              <a:t>Regime Classifier  ·  LSTM Model  ·  Volatility Model  ·  Assembler Model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581912" y="2340864"/>
            <a:ext cx="0" cy="274320"/>
          </a:xfrm>
          <a:prstGeom prst="line">
            <a:avLst/>
          </a:prstGeom>
          <a:noFill/>
          <a:ln w="12700">
            <a:solidFill>
              <a:srgbClr val="8A9BB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480560" y="2340864"/>
            <a:ext cx="0" cy="274320"/>
          </a:xfrm>
          <a:prstGeom prst="line">
            <a:avLst/>
          </a:prstGeom>
          <a:noFill/>
          <a:ln w="12700">
            <a:solidFill>
              <a:srgbClr val="8A9BB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79208" y="2340864"/>
            <a:ext cx="0" cy="274320"/>
          </a:xfrm>
          <a:prstGeom prst="line">
            <a:avLst/>
          </a:prstGeom>
          <a:noFill/>
          <a:ln w="12700">
            <a:solidFill>
              <a:srgbClr val="8A9BB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56032" y="2633472"/>
            <a:ext cx="2834640" cy="2377440"/>
          </a:xfrm>
          <a:prstGeom prst="rect">
            <a:avLst/>
          </a:prstGeom>
          <a:solidFill>
            <a:srgbClr val="3B2D8A">
              <a:alpha val="15000"/>
            </a:srgbClr>
          </a:solidFill>
          <a:ln w="9525">
            <a:solidFill>
              <a:srgbClr val="3B2D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2633472"/>
            <a:ext cx="2834640" cy="384048"/>
          </a:xfrm>
          <a:prstGeom prst="rect">
            <a:avLst/>
          </a:prstGeom>
          <a:solidFill>
            <a:srgbClr val="3B2D8A"/>
          </a:solidFill>
          <a:ln w="12700">
            <a:solidFill>
              <a:srgbClr val="3B2D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2651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Retail Traders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0906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5"/>
                </a:solidFill>
              </a:rPr>
              <a:t>· Directional signal per pair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352958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5"/>
                </a:solidFill>
              </a:rPr>
              <a:t>· Up / down / neutral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396849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5"/>
                </a:solidFill>
              </a:rPr>
              <a:t>· + confidence score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55264" y="2633472"/>
            <a:ext cx="2834640" cy="2377440"/>
          </a:xfrm>
          <a:prstGeom prst="rect">
            <a:avLst/>
          </a:prstGeom>
          <a:solidFill>
            <a:srgbClr val="7A4800">
              <a:alpha val="15000"/>
            </a:srgbClr>
          </a:solidFill>
          <a:ln w="9525">
            <a:solidFill>
              <a:srgbClr val="7A48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55264" y="2633472"/>
            <a:ext cx="2834640" cy="384048"/>
          </a:xfrm>
          <a:prstGeom prst="rect">
            <a:avLst/>
          </a:prstGeom>
          <a:solidFill>
            <a:srgbClr val="7A4800"/>
          </a:solidFill>
          <a:ln w="12700">
            <a:solidFill>
              <a:srgbClr val="7A48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2651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SME Merchants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64992" y="30906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5"/>
                </a:solidFill>
              </a:rPr>
              <a:t>· FX exposure score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64992" y="352958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5"/>
                </a:solidFill>
              </a:rPr>
              <a:t>· Optimal conversion window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64992" y="3968496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5"/>
                </a:solidFill>
              </a:rPr>
              <a:t>· Rate-lock pricing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64992" y="4407408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5"/>
                </a:solidFill>
              </a:rPr>
              <a:t>· DCC + MCP integration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54496" y="2633472"/>
            <a:ext cx="2834640" cy="2377440"/>
          </a:xfrm>
          <a:prstGeom prst="rect">
            <a:avLst/>
          </a:prstGeom>
          <a:solidFill>
            <a:srgbClr val="7B2A18">
              <a:alpha val="15000"/>
            </a:srgbClr>
          </a:solidFill>
          <a:ln w="9525">
            <a:solidFill>
              <a:srgbClr val="7B2A1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54496" y="2633472"/>
            <a:ext cx="2834640" cy="384048"/>
          </a:xfrm>
          <a:prstGeom prst="rect">
            <a:avLst/>
          </a:prstGeom>
          <a:solidFill>
            <a:srgbClr val="7B2A18"/>
          </a:solidFill>
          <a:ln w="12700">
            <a:solidFill>
              <a:srgbClr val="7B2A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45936" y="2651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 Treasury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64224" y="30906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5"/>
                </a:solidFill>
              </a:rPr>
              <a:t>· Hedge recommendation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64224" y="3529584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5"/>
                </a:solidFill>
              </a:rPr>
              <a:t>· sizing + timing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FX Intelligence Engine</dc:title>
  <dc:subject>PptxGenJS Presentation</dc:subject>
  <dc:creator>PptxGenJS</dc:creator>
  <cp:lastModifiedBy>PptxGenJS</cp:lastModifiedBy>
  <cp:revision>1</cp:revision>
  <dcterms:created xsi:type="dcterms:W3CDTF">2026-03-16T01:08:30Z</dcterms:created>
  <dcterms:modified xsi:type="dcterms:W3CDTF">2026-03-16T01:08:30Z</dcterms:modified>
</cp:coreProperties>
</file>